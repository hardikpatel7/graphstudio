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SmartStudio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6B6D4"/>
                </a:solidFill>
                <a:latin typeface="Calibri"/>
              </a:defRPr>
            </a:pPr>
            <a:r>
              <a:t>Metadata-Driven Full-Stack App Generation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Design  →  Configure  →  Generate  →  Deploy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754880"/>
            <a:ext cx="10058400" cy="9144"/>
          </a:xfrm>
          <a:prstGeom prst="rect">
            <a:avLst/>
          </a:prstGeom>
          <a:solidFill>
            <a:srgbClr val="33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Engineering Deep-Dive  |  Architecture  ·  Performance  ·  Code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Every retail client needs an inventory management app. Every app is 80% the same.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6032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538CA"/>
                </a:solidFill>
                <a:latin typeface="Calibri"/>
              </a:defRPr>
            </a:pPr>
            <a:r>
              <a:t>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538CA"/>
                </a:solidFill>
                <a:latin typeface="Calibri"/>
              </a:defRPr>
            </a:pPr>
            <a:r>
              <a:t>6–12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Time to build one app</a:t>
            </a:r>
            <a:br/>
            <a:r>
              <a:t>from scratch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828800"/>
            <a:ext cx="256032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538CA"/>
                </a:solidFill>
                <a:latin typeface="Calibri"/>
              </a:defRPr>
            </a:pPr>
            <a:r>
              <a:t>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51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538CA"/>
                </a:solidFill>
                <a:latin typeface="Calibri"/>
              </a:defRPr>
            </a:pPr>
            <a:r>
              <a:t>48 DataViews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918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Per app — each needs schema,</a:t>
            </a:r>
            <a:br/>
            <a:r>
              <a:t>pipeline, filters, viewport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56032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538CA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51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538CA"/>
                </a:solidFill>
                <a:latin typeface="Calibri"/>
              </a:defRPr>
            </a:pPr>
            <a:r>
              <a:t>Rust + React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918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gRPC backend + React</a:t>
            </a:r>
            <a:br/>
            <a:r>
              <a:t>frontend per client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828800"/>
            <a:ext cx="256032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538CA"/>
                </a:solidFill>
                <a:latin typeface="Calibri"/>
              </a:defRPr>
            </a:pPr>
            <a:r>
              <a:t>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651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538CA"/>
                </a:solidFill>
                <a:latin typeface="Calibri"/>
              </a:defRPr>
            </a:pPr>
            <a:r>
              <a:t>80% repeated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2918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Same patterns, same pipeline</a:t>
            </a:r>
            <a:br/>
            <a:r>
              <a:t>infra, same UI components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538CA"/>
                </a:solidFill>
                <a:latin typeface="Calibri"/>
              </a:defRPr>
            </a:pPr>
            <a:r>
              <a:t>What if we could capture the app definition as metadata and generate the entire stack?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914400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SmartStudio Web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7FF"/>
                </a:solidFill>
                <a:latin typeface="Calibri"/>
              </a:defRPr>
            </a:pPr>
            <a:r>
              <a:t>React 19  ·  TanStack  ·  Zustand  ·  Tailwind CSS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02920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813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Frontend Preview (WYSIWYG)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7FF"/>
                </a:solidFill>
                <a:latin typeface="Calibri"/>
              </a:defRPr>
            </a:pPr>
            <a:r>
              <a:t>Live preview of generated app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3200400" cy="10972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6534"/>
                </a:solidFill>
                <a:latin typeface="Calibri"/>
              </a:defRPr>
            </a:pPr>
            <a:r>
              <a:t>Rust Axum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REST API  ·  SSE Streaming</a:t>
            </a:r>
            <a:br/>
            <a:r>
              <a:t>Pipeline Executor  ·  DuckDB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743200"/>
            <a:ext cx="2743200" cy="10972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834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A3412"/>
                </a:solidFill>
                <a:latin typeface="Calibri"/>
              </a:defRPr>
            </a:pPr>
            <a:r>
              <a:t>SQLite Metadata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Apps  ·  DataViews  ·  Dimensions</a:t>
            </a:r>
            <a:br/>
            <a:r>
              <a:t>Modules  ·  Connections  ·  Configs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743200"/>
            <a:ext cx="402336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F"/>
                </a:solidFill>
                <a:latin typeface="Calibri"/>
              </a:defRPr>
            </a:pPr>
            <a:r>
              <a:t>Data Pipeline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1546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PG COPY → Parquet → DuckDB → Hive-partitioned output</a:t>
            </a:r>
            <a:br/>
            <a:r>
              <a:t>CDC  ·  Parallel extraction  ·  3-phase orchestrator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89120"/>
            <a:ext cx="256032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80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Rust gRPC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Proto + Axum services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4389120"/>
            <a:ext cx="256032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4480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React 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Module/Component scaffold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389120"/>
            <a:ext cx="256032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480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Extensible Targets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Language pack per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4389120"/>
            <a:ext cx="256032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4480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Parquet Data Lake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Hive-partitioned 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023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↓  Code Gen  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Single metadata definition → Multiple generated targets  |  One source of truth for schema, pipeline, UI, and filters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Calibri"/>
              </a:defRPr>
            </a:pPr>
            <a:r>
              <a:t>3-Phase App Pipeline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Extracts 26 PG source tables, deduplicates, materializes 48 DataViews — all via SSE-streamed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74520"/>
            <a:ext cx="4572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47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Parallel PG COPY → Parquet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37 unique source tables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Deduplicated by output_path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Parallel OS threads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CDC incremental support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tokio multi-thread runtime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645920"/>
            <a:ext cx="3383280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645920"/>
            <a:ext cx="3383280" cy="73152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39" y="1874520"/>
            <a:ext cx="457200" cy="320040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799" y="1847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Materialize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DuckDB Load → Join → 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83464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Load parquet into DuckDB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Run join/aggregation queries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Write hive-partitioned output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Per-DV executor (isolation)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Dependency DAG resolution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645920"/>
            <a:ext cx="3383280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645920"/>
            <a:ext cx="3383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874520"/>
            <a:ext cx="4572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847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BQ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BigQuery → GCS →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83464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EXPORT DATA to GCS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gsutil parallel download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Parquet format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Project/dataset from config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2-step materialization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Calibri"/>
              </a:defRPr>
            </a:pPr>
            <a:r>
              <a:t>Hand-Built vs SmartStudio Generated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Comparing the current inventory-smart-rust codebase with what SmartStudio generates from metadata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303520" cy="47548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0352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Current: Hand-Built  (inventory-smart-rust)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F1D1D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231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7F1D1D"/>
                </a:solidFill>
                <a:latin typeface="Calibri"/>
              </a:defRPr>
            </a:pPr>
            <a:r>
              <a:t>87K lines Rust  +  98K lines TypeScript  =  185K LOC</a:t>
            </a:r>
          </a:p>
          <a:p>
            <a:pPr>
              <a:spcAft>
                <a:spcPts val="300"/>
              </a:spcAft>
              <a:defRPr sz="1100">
                <a:solidFill>
                  <a:srgbClr val="7F1D1D"/>
                </a:solidFill>
                <a:latin typeface="Calibri"/>
              </a:defRPr>
            </a:pPr>
            <a:r>
              <a:t>28 Rust crates  ·  16 modules  ·  115+ HTTP endpoints</a:t>
            </a:r>
          </a:p>
          <a:p>
            <a:pPr>
              <a:spcAft>
                <a:spcPts val="300"/>
              </a:spcAft>
              <a:defRPr sz="1100">
                <a:solidFill>
                  <a:srgbClr val="7F1D1D"/>
                </a:solidFill>
                <a:latin typeface="Calibri"/>
              </a:defRPr>
            </a:pPr>
            <a:r>
              <a:t>11 client configs hand-maintained per module</a:t>
            </a:r>
          </a:p>
          <a:p>
            <a:pPr>
              <a:spcAft>
                <a:spcPts val="300"/>
              </a:spcAft>
              <a:defRPr sz="1100">
                <a:solidFill>
                  <a:srgbClr val="7F1D1D"/>
                </a:solidFill>
                <a:latin typeface="Calibri"/>
              </a:defRPr>
            </a:pPr>
            <a:r>
              <a:t>30+ router files  ·  16 service files  ·  1 proto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F1D1D"/>
                </a:solidFill>
                <a:latin typeface="Calibri"/>
              </a:defRPr>
            </a:pPr>
            <a:r>
              <a:t>Productivity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7F1D1D"/>
                </a:solidFill>
                <a:latin typeface="Calibri"/>
              </a:defRPr>
            </a:pPr>
            <a:r>
              <a:t>✘  Each DataView hand-coded: router, service, data, models, queries</a:t>
            </a:r>
          </a:p>
          <a:p>
            <a:pPr>
              <a:spcAft>
                <a:spcPts val="300"/>
              </a:spcAft>
              <a:defRPr sz="1100">
                <a:solidFill>
                  <a:srgbClr val="7F1D1D"/>
                </a:solidFill>
                <a:latin typeface="Calibri"/>
              </a:defRPr>
            </a:pPr>
            <a:r>
              <a:t>✘  Client config JSON duplicated across 16 modules</a:t>
            </a:r>
          </a:p>
          <a:p>
            <a:pPr>
              <a:spcAft>
                <a:spcPts val="300"/>
              </a:spcAft>
              <a:defRPr sz="1100">
                <a:solidFill>
                  <a:srgbClr val="7F1D1D"/>
                </a:solidFill>
                <a:latin typeface="Calibri"/>
              </a:defRPr>
            </a:pPr>
            <a:r>
              <a:t>✘  Schema changes cascade through multiple crates manually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F1D1D"/>
                </a:solidFill>
                <a:latin typeface="Calibri"/>
              </a:defRPr>
            </a:pPr>
            <a:r>
              <a:t>Pipeline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029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7F1D1D"/>
                </a:solidFill>
                <a:latin typeface="Calibri"/>
              </a:defRPr>
            </a:pPr>
            <a:r>
              <a:t>✘  Sequential table extraction, one at a time</a:t>
            </a:r>
          </a:p>
          <a:p>
            <a:pPr>
              <a:spcAft>
                <a:spcPts val="300"/>
              </a:spcAft>
              <a:defRPr sz="1100">
                <a:solidFill>
                  <a:srgbClr val="7F1D1D"/>
                </a:solidFill>
                <a:latin typeface="Calibri"/>
              </a:defRPr>
            </a:pPr>
            <a:r>
              <a:t>✘  No shared extraction across DataViews</a:t>
            </a:r>
          </a:p>
          <a:p>
            <a:pPr>
              <a:spcAft>
                <a:spcPts val="300"/>
              </a:spcAft>
              <a:defRPr sz="1100">
                <a:solidFill>
                  <a:srgbClr val="7F1D1D"/>
                </a:solidFill>
                <a:latin typeface="Calibri"/>
              </a:defRPr>
            </a:pPr>
            <a:r>
              <a:t>✘  Full snapshot every refresh — no CDC incremental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5303520" cy="47548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530352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6534"/>
                </a:solidFill>
                <a:latin typeface="Calibri"/>
              </a:defRPr>
            </a:pPr>
            <a:r>
              <a:t>SmartStudio Generated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2D"/>
                </a:solidFill>
                <a:latin typeface="Calibri"/>
              </a:defRPr>
            </a:pPr>
            <a:r>
              <a:t>Generated from Metadata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4231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4532D"/>
                </a:solidFill>
                <a:latin typeface="Calibri"/>
              </a:defRPr>
            </a:pPr>
            <a:r>
              <a:t>48 DataViews → 48 gRPC services + REST + React UI</a:t>
            </a:r>
          </a:p>
          <a:p>
            <a:pPr>
              <a:spcAft>
                <a:spcPts val="300"/>
              </a:spcAft>
              <a:defRPr sz="1100">
                <a:solidFill>
                  <a:srgbClr val="14532D"/>
                </a:solidFill>
                <a:latin typeface="Calibri"/>
              </a:defRPr>
            </a:pPr>
            <a:r>
              <a:t>Proto, handler, filter logic, column defs — all automatic</a:t>
            </a:r>
          </a:p>
          <a:p>
            <a:pPr>
              <a:spcAft>
                <a:spcPts val="300"/>
              </a:spcAft>
              <a:defRPr sz="1100">
                <a:solidFill>
                  <a:srgbClr val="14532D"/>
                </a:solidFill>
                <a:latin typeface="Calibri"/>
              </a:defRPr>
            </a:pPr>
            <a:r>
              <a:t>One metadata change regenerates entire stack</a:t>
            </a:r>
          </a:p>
          <a:p>
            <a:pPr>
              <a:spcAft>
                <a:spcPts val="300"/>
              </a:spcAft>
              <a:defRPr sz="1100">
                <a:solidFill>
                  <a:srgbClr val="14532D"/>
                </a:solidFill>
                <a:latin typeface="Calibri"/>
              </a:defRPr>
            </a:pPr>
            <a:r>
              <a:t>Language pack extensible to any target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2D"/>
                </a:solidFill>
                <a:latin typeface="Calibri"/>
              </a:defRPr>
            </a:pPr>
            <a:r>
              <a:t>Productivity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8404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4532D"/>
                </a:solidFill>
                <a:latin typeface="Calibri"/>
              </a:defRPr>
            </a:pPr>
            <a:r>
              <a:t>✔  Define DataView metadata once in WYSIWYG editor</a:t>
            </a:r>
          </a:p>
          <a:p>
            <a:pPr>
              <a:spcAft>
                <a:spcPts val="300"/>
              </a:spcAft>
              <a:defRPr sz="1100">
                <a:solidFill>
                  <a:srgbClr val="14532D"/>
                </a:solidFill>
                <a:latin typeface="Calibri"/>
              </a:defRPr>
            </a:pPr>
            <a:r>
              <a:t>✔  Schema + pipeline + filters + viewport in one place</a:t>
            </a:r>
          </a:p>
          <a:p>
            <a:pPr>
              <a:spcAft>
                <a:spcPts val="300"/>
              </a:spcAft>
              <a:defRPr sz="1100">
                <a:solidFill>
                  <a:srgbClr val="14532D"/>
                </a:solidFill>
                <a:latin typeface="Calibri"/>
              </a:defRPr>
            </a:pPr>
            <a:r>
              <a:t>✔  New client = clone app + update connections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2D"/>
                </a:solidFill>
                <a:latin typeface="Calibri"/>
              </a:defRPr>
            </a:pPr>
            <a:r>
              <a:t>Pipeline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29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4532D"/>
                </a:solidFill>
                <a:latin typeface="Calibri"/>
              </a:defRPr>
            </a:pPr>
            <a:r>
              <a:t>✔  37 tables extracted in parallel (OS threads)</a:t>
            </a:r>
          </a:p>
          <a:p>
            <a:pPr>
              <a:spcAft>
                <a:spcPts val="300"/>
              </a:spcAft>
              <a:defRPr sz="1100">
                <a:solidFill>
                  <a:srgbClr val="14532D"/>
                </a:solidFill>
                <a:latin typeface="Calibri"/>
              </a:defRPr>
            </a:pPr>
            <a:r>
              <a:t>✔  Shared extracts deduplicated across all 48 DVs</a:t>
            </a:r>
          </a:p>
          <a:p>
            <a:pPr>
              <a:spcAft>
                <a:spcPts val="300"/>
              </a:spcAft>
              <a:defRPr sz="1100">
                <a:solidFill>
                  <a:srgbClr val="14532D"/>
                </a:solidFill>
                <a:latin typeface="Calibri"/>
              </a:defRPr>
            </a:pPr>
            <a:r>
              <a:t>✔  CDC incremental + SSE real-time progress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Calibri"/>
              </a:defRPr>
            </a:pPr>
            <a:r>
              <a:t>Code Generation: The Meta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One metadata definition generates production-grade code across multiple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011680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DataView</a:t>
            </a:r>
            <a:br/>
            <a:r>
              <a:t>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48 DataViews with</a:t>
            </a:r>
            <a:br/>
            <a:r>
              <a:t>schema, pipeline,</a:t>
            </a:r>
            <a:br/>
            <a:r>
              <a:t>filters, viewports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194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59" y="1645920"/>
            <a:ext cx="2286000" cy="2011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39" y="1783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Language</a:t>
            </a:r>
            <a:br/>
            <a:r>
              <a:t>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39" y="25146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Eta templates per</a:t>
            </a:r>
            <a:br/>
            <a:r>
              <a:t>target: Rust, React,</a:t>
            </a:r>
            <a:br/>
            <a:r>
              <a:t>extensible to any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2194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645920"/>
            <a:ext cx="2286000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783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Generated</a:t>
            </a:r>
            <a:br/>
            <a:r>
              <a:t>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5146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Production-grade</a:t>
            </a:r>
            <a:br/>
            <a:r>
              <a:t>scaffold: proto, gRPC,</a:t>
            </a:r>
            <a:br/>
            <a:r>
              <a:t>REST, UI components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B4B"/>
                </a:solidFill>
                <a:latin typeface="Calibri"/>
              </a:defRPr>
            </a:pPr>
            <a:r>
              <a:t>What gets generated per DataView: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72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Proto Definition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8463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gRPC service with GetList,</a:t>
            </a:r>
            <a:br/>
            <a:r>
              <a:t>GetFilterValues RPCs</a:t>
            </a:r>
          </a:p>
        </p:txBody>
      </p:sp>
      <p:sp>
        <p:nvSpPr>
          <p:cNvPr id="20" name="Oval 19"/>
          <p:cNvSpPr/>
          <p:nvPr/>
        </p:nvSpPr>
        <p:spPr>
          <a:xfrm>
            <a:off x="3566160" y="4617720"/>
            <a:ext cx="365760" cy="365760"/>
          </a:xfrm>
          <a:prstGeom prst="ellipse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572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Rust gRPC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8463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Axum handler + DuckDB</a:t>
            </a:r>
            <a:br/>
            <a:r>
              <a:t>parquet reader + filters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461772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572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REST Endpoints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8463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/list, /filter-values, /health</a:t>
            </a:r>
            <a:br/>
            <a:r>
              <a:t>with pagination + search</a:t>
            </a:r>
          </a:p>
        </p:txBody>
      </p:sp>
      <p:sp>
        <p:nvSpPr>
          <p:cNvPr id="26" name="Oval 25"/>
          <p:cNvSpPr/>
          <p:nvPr/>
        </p:nvSpPr>
        <p:spPr>
          <a:xfrm>
            <a:off x="9235440" y="461772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4572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React Component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48463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TanStack Table with column</a:t>
            </a:r>
            <a:br/>
            <a:r>
              <a:t>defs, sort, search, filters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Calibri"/>
              </a:defRPr>
            </a:pPr>
            <a:r>
              <a:t>Visual Design: WYSIWYG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Design the app visually — see exactly what the generated app will look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B4B"/>
                </a:solidFill>
                <a:latin typeface="Calibri"/>
              </a:defRPr>
            </a:pPr>
            <a:r>
              <a:t>Design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Module → SubModule → Component hierarchy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Drag-and-drop column reordering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Column visibility, sortable, searchable toggles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Filter configuration per dimension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Pipeline tree designer with node editor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Schema panel: types, groups, editability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ViewPort saved lens (filters + sort + pagination)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Inline SQL query preview with syntax highlighting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B4B"/>
                </a:solidFill>
                <a:latin typeface="Calibri"/>
              </a:defRPr>
            </a:pPr>
            <a:r>
              <a:t>Live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Sidebar navigation (modules)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Tab layout (submodules → components)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Real data tables powered by DuckDB read_query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Per-column search (multi-search)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Pagination with configurable page sizes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Sort dropdown from DataView columns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Dimension filter panels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Mirrors generated app layout exactly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538CA"/>
                </a:solidFill>
                <a:latin typeface="Calibri"/>
              </a:defRPr>
            </a:pPr>
            <a:r>
              <a:t>Multi-Client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Per-client app definitions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Client → Connections → Apps model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Tenant-scoped config (TOML layers)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Clone app across clients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371600"/>
            <a:ext cx="256032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Multi-Environment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10312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default → tenant.env → local.toml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Merged config with override layers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Per-environment pipeline settings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BQ project / GCS bucket per env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256032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Data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0312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Parquet + Hive partitioning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DuckDB columnar query engine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CDC incremental extraction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Parallel I/O (OS threads)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71600"/>
            <a:ext cx="256032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Code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10312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Language pack per target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Template-driven (Eta engine)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48 DataViews → 48 services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Proto + gRPC + REST + 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897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48 DataViews  ·  26 Source Tables  ·  8 Modules  ·  27 SubModules  ·  33 Components  ·  4 Filter Configs  ·  3 Dimensions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Calibri"/>
              </a:defRPr>
            </a:pPr>
            <a:r>
              <a:t>DataView: The Core Abstraction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Each DataView is a self-contained unit that defines schema, data pipeline, query interface, and UI behavior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103120" cy="2286000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Column definitions: name, type,</a:t>
            </a:r>
            <a:br/>
            <a:r>
              <a:t>visible, sortable, searchable,</a:t>
            </a:r>
            <a:br/>
            <a:r>
              <a:t>editable, filterable,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645920"/>
            <a:ext cx="2103120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828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Tree-based extraction workflow:</a:t>
            </a:r>
            <a:br/>
            <a:r>
              <a:t>pg_extract → duckdb_table →</a:t>
            </a:r>
            <a:br/>
            <a:r>
              <a:t>duckdb_query →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645920"/>
            <a:ext cx="2103120" cy="228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828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Parquet browser + ad-hoc SQL</a:t>
            </a:r>
            <a:br/>
            <a:r>
              <a:t>console with {PARQUET_HOME}</a:t>
            </a:r>
            <a:br/>
            <a:r>
              <a:t>resolution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645920"/>
            <a:ext cx="2103120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828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22860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Dimension bindings +</a:t>
            </a:r>
            <a:br/>
            <a:r>
              <a:t>ViewPort CRUD (saved</a:t>
            </a:r>
            <a:br/>
            <a:r>
              <a:t>filter+sort+pagination)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645920"/>
            <a:ext cx="210312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828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ViewPorts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2860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Stateful filtered window</a:t>
            </a:r>
            <a:br/>
            <a:r>
              <a:t>with read_query, sort,</a:t>
            </a:r>
            <a:br/>
            <a:r>
              <a:t>pagination, column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B4B"/>
                </a:solidFill>
                <a:latin typeface="Calibri"/>
              </a:defRPr>
            </a:pPr>
            <a:r>
              <a:t>Backend Workflow Pipeline (per DataView):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188720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538CA"/>
                </a:solidFill>
                <a:latin typeface="Calibri"/>
              </a:defRPr>
            </a:pPr>
            <a:r>
              <a:t>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pg_query</a:t>
            </a:r>
            <a:br/>
            <a:r>
              <a:t>pg_sp</a:t>
            </a:r>
            <a:br/>
            <a:r>
              <a:t>bq_export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029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754880"/>
            <a:ext cx="1188720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4800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538CA"/>
                </a:solidFill>
                <a:latin typeface="Calibri"/>
              </a:defRPr>
            </a:pPr>
            <a:r>
              <a:t>Extract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07492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PG COPY</a:t>
            </a:r>
            <a:br/>
            <a:r>
              <a:t>→ CSV</a:t>
            </a:r>
            <a:br/>
            <a:r>
              <a:t>→ Parquet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5029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4754880"/>
            <a:ext cx="1188720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4800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538CA"/>
                </a:solidFill>
                <a:latin typeface="Calibri"/>
              </a:defRPr>
            </a:pPr>
            <a:r>
              <a:t>Transform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507492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DuckDB load</a:t>
            </a:r>
            <a:br/>
            <a:r>
              <a:t>Join tables</a:t>
            </a:r>
            <a:br/>
            <a:r>
              <a:t>Aggregate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5029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4754880"/>
            <a:ext cx="1188720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0" y="4800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538CA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507492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Hive-partitioned</a:t>
            </a:r>
            <a:br/>
            <a:r>
              <a:t>parquet files</a:t>
            </a:r>
            <a:br/>
            <a:r>
              <a:t>+ CDC marker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5029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32720" y="4754880"/>
            <a:ext cx="1188720" cy="1463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60" y="4800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538CA"/>
                </a:solidFill>
                <a:latin typeface="Calibri"/>
              </a:defRPr>
            </a:pPr>
            <a:r>
              <a:t>Serve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507492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read_query</a:t>
            </a:r>
            <a:br/>
            <a:r>
              <a:t>DuckDB scan</a:t>
            </a:r>
            <a:br/>
            <a:r>
              <a:t>ViewPort cache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011680" cy="548640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2984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React 19, TanStack Table/Router, Zustand, Tailwind CSS, Lucide icons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01952"/>
            <a:ext cx="201168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11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Rust (Axum), SQLite (rusqlite), DuckDB, tokio-postgres, crossbeam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15184"/>
            <a:ext cx="201168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24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7249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DuckDB in-memory columnar, Parquet (Snappy), Hive partitioning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28415"/>
            <a:ext cx="201168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38143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438143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tokio multi-thread runtime, crossbeam channels, SSE streaming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41648"/>
            <a:ext cx="201168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5137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Code 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151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Eta template engine, Language packs (Rust backend, React frontend)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201168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64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864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TOML 3-layer override (default → tenant.env → local), SQLite traces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468112"/>
            <a:ext cx="2011680" cy="54864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PostgreSQL (source), BigQuery (analytics), GCS (parquet lake)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B4B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7315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Fix 27 pipeline queries (PG schema alignment)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Wire 8 stored procedure DataViews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Dynamic ViewPort creation with cascading filters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38328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383280" cy="54864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39" y="1600200"/>
            <a:ext cx="731520" cy="320040"/>
          </a:xfrm>
          <a:prstGeom prst="rect">
            <a:avLst/>
          </a:prstGeom>
          <a:solidFill>
            <a:srgbClr val="45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19456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Query abstraction in rust-shared-utils (QueryEngine trait)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Schema introspection UI: browse PG → auto-populate columns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Additional language pack templates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Git integration for code generation (branch + commit)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38328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3832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600200"/>
            <a:ext cx="73152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Future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19456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Template marketplace (clone app definitions)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Multi-tenant deployment orchestration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Real-time CDC with Debezium/WAL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AI-assisted pipeline builder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SmartStudio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B6D4"/>
                </a:solidFill>
                <a:latin typeface="Calibri"/>
              </a:defRPr>
            </a:pPr>
            <a:r>
              <a:t>Design once. Generate everywhere.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114800"/>
            <a:ext cx="10058400" cy="9144"/>
          </a:xfrm>
          <a:prstGeom prst="rect">
            <a:avLst/>
          </a:prstGeom>
          <a:solidFill>
            <a:srgbClr val="33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Metadata-driven  ·  48 DataViews  ·  3-phase pipeline  ·  37 parallel extracts  ·  Multi-target code gen  ·  WYSIWYG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